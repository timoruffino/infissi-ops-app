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97061089f74cac" /><Relationship Type="http://schemas.openxmlformats.org/officeDocument/2006/relationships/extended-properties" Target="/docProps/app.xml" Id="R30e0922d0482489d" /><Relationship Type="http://schemas.openxmlformats.org/officeDocument/2006/relationships/officeDocument" Target="/ppt/presentation.xml" Id="R8b54875bf21c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60dae666a04945"/>
  </p:sldMasterIdLst>
  <p:notesMasterIdLst>
    <p:notesMasterId xmlns:r="http://schemas.openxmlformats.org/officeDocument/2006/relationships" r:id="Rb4ce192470764510"/>
  </p:notesMasterIdLst>
  <p:sldIdLst>
    <p:sldId xmlns:r="http://schemas.openxmlformats.org/officeDocument/2006/relationships" id="256" r:id="Re7cbd63238ef47a7"/>
    <p:sldId xmlns:r="http://schemas.openxmlformats.org/officeDocument/2006/relationships" id="257" r:id="R19eeb7d6796f4b6f"/>
    <p:sldId xmlns:r="http://schemas.openxmlformats.org/officeDocument/2006/relationships" id="258" r:id="R1716f30f603e48b5"/>
    <p:sldId xmlns:r="http://schemas.openxmlformats.org/officeDocument/2006/relationships" id="259" r:id="Rc27310a32d4b49e0"/>
    <p:sldId xmlns:r="http://schemas.openxmlformats.org/officeDocument/2006/relationships" id="260" r:id="R5f2eff7848034ddb"/>
    <p:sldId xmlns:r="http://schemas.openxmlformats.org/officeDocument/2006/relationships" id="261" r:id="R44ece87e4df9421f"/>
    <p:sldId xmlns:r="http://schemas.openxmlformats.org/officeDocument/2006/relationships" id="262" r:id="Rfb18a07517fe4007"/>
    <p:sldId xmlns:r="http://schemas.openxmlformats.org/officeDocument/2006/relationships" id="263" r:id="R50e88d9da48b4575"/>
    <p:sldId xmlns:r="http://schemas.openxmlformats.org/officeDocument/2006/relationships" id="264" r:id="R6d20e39f00d64ff1"/>
    <p:sldId xmlns:r="http://schemas.openxmlformats.org/officeDocument/2006/relationships" id="265" r:id="R4e1c5eb1469548ee"/>
    <p:sldId xmlns:r="http://schemas.openxmlformats.org/officeDocument/2006/relationships" id="266" r:id="R76e6d5724722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1bbdd6887d42e4" /><Relationship Type="http://schemas.openxmlformats.org/officeDocument/2006/relationships/slideMaster" Target="/ppt/slideMasters/slideMaster1.xml" Id="Rb560dae666a04945" /><Relationship Type="http://schemas.openxmlformats.org/officeDocument/2006/relationships/notesMaster" Target="/ppt/notesMasters/notesMaster1.xml" Id="Rb4ce192470764510" /><Relationship Type="http://schemas.openxmlformats.org/officeDocument/2006/relationships/presProps" Target="/ppt/presProps.xml" Id="Rd6b72d2bf39b474e" /><Relationship Type="http://schemas.openxmlformats.org/officeDocument/2006/relationships/tableStyles" Target="/ppt/tableStyles.xml" Id="R4f8c6eaa2f784b2d" /><Relationship Type="http://schemas.openxmlformats.org/officeDocument/2006/relationships/slide" Target="/ppt/slides/slide1.xml" Id="Re7cbd63238ef47a7" /><Relationship Type="http://schemas.openxmlformats.org/officeDocument/2006/relationships/slide" Target="/ppt/slides/slide2.xml" Id="R19eeb7d6796f4b6f" /><Relationship Type="http://schemas.openxmlformats.org/officeDocument/2006/relationships/slide" Target="/ppt/slides/slide3.xml" Id="R1716f30f603e48b5" /><Relationship Type="http://schemas.openxmlformats.org/officeDocument/2006/relationships/slide" Target="/ppt/slides/slide4.xml" Id="Rc27310a32d4b49e0" /><Relationship Type="http://schemas.openxmlformats.org/officeDocument/2006/relationships/slide" Target="/ppt/slides/slide5.xml" Id="R5f2eff7848034ddb" /><Relationship Type="http://schemas.openxmlformats.org/officeDocument/2006/relationships/slide" Target="/ppt/slides/slide6.xml" Id="R44ece87e4df9421f" /><Relationship Type="http://schemas.openxmlformats.org/officeDocument/2006/relationships/slide" Target="/ppt/slides/slide7.xml" Id="Rfb18a07517fe4007" /><Relationship Type="http://schemas.openxmlformats.org/officeDocument/2006/relationships/slide" Target="/ppt/slides/slide8.xml" Id="R50e88d9da48b4575" /><Relationship Type="http://schemas.openxmlformats.org/officeDocument/2006/relationships/slide" Target="/ppt/slides/slide9.xml" Id="R6d20e39f00d64ff1" /><Relationship Type="http://schemas.openxmlformats.org/officeDocument/2006/relationships/slide" Target="/ppt/slides/slide10.xml" Id="R4e1c5eb1469548ee" /><Relationship Type="http://schemas.openxmlformats.org/officeDocument/2006/relationships/slide" Target="/ppt/slides/slide11.xml" Id="R76e6d5724722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d602b723648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e7dd6da8754646" /><Relationship Type="http://schemas.openxmlformats.org/officeDocument/2006/relationships/notesMaster" Target="/ppt/notesMasters/notesMaster1.xml" Id="R3da00661783546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935efc77734827" /><Relationship Type="http://schemas.openxmlformats.org/officeDocument/2006/relationships/notesMaster" Target="/ppt/notesMasters/notesMaster1.xml" Id="Rb8a715cdccd1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cae8b472f4a7e" /><Relationship Type="http://schemas.openxmlformats.org/officeDocument/2006/relationships/notesMaster" Target="/ppt/notesMasters/notesMaster1.xml" Id="R1e8dc69f75fd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ee925544554b4a" /><Relationship Type="http://schemas.openxmlformats.org/officeDocument/2006/relationships/notesMaster" Target="/ppt/notesMasters/notesMaster1.xml" Id="Rea5ea2a905f541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9070e1af734aa1" /><Relationship Type="http://schemas.openxmlformats.org/officeDocument/2006/relationships/notesMaster" Target="/ppt/notesMasters/notesMaster1.xml" Id="Ra9a323e1324d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896ff8e5824bb6" /><Relationship Type="http://schemas.openxmlformats.org/officeDocument/2006/relationships/notesMaster" Target="/ppt/notesMasters/notesMaster1.xml" Id="R65b74c6d746545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da3171cdba4f56" /><Relationship Type="http://schemas.openxmlformats.org/officeDocument/2006/relationships/notesMaster" Target="/ppt/notesMasters/notesMaster1.xml" Id="R27749cbfc21547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8a735b74cb4f70" /><Relationship Type="http://schemas.openxmlformats.org/officeDocument/2006/relationships/notesMaster" Target="/ppt/notesMasters/notesMaster1.xml" Id="Rd6363212e45246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c5743b4faa403a" /><Relationship Type="http://schemas.openxmlformats.org/officeDocument/2006/relationships/notesMaster" Target="/ppt/notesMasters/notesMaster1.xml" Id="R7c23d018e17c44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d1d9473aec4ab7" /><Relationship Type="http://schemas.openxmlformats.org/officeDocument/2006/relationships/notesMaster" Target="/ppt/notesMasters/notesMaster1.xml" Id="R8bd6d95f17a745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542b3842a14f76" /><Relationship Type="http://schemas.openxmlformats.org/officeDocument/2006/relationships/notesMaster" Target="/ppt/notesMasters/notesMaster1.xml" Id="R71adcdd7721f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con un messaggio semplice: Ruffino Flow diventa il posto comune in cui leggiamo e aggiorniamo il lavoro. Questa sessione non serve a imparare ogni funzione, ma a capire dove agire dal primo giorno.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§1 Visione del prodotto</a:t>
            </a:r>
          </a:p>
          <a:p xmlns:a="http://schemas.openxmlformats.org/drawingml/2006/main">
            <a:r>
              <a:t>- Screenshot locale del prodotto; dati fittizi in memoria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il vantaggio operativo: meno passaggi a voce, meno fogli paralleli, meno domande ripetute. Il CRM non sostituisce il confronto tra colleghi; gli dà una base comune e aggiornata.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§1 Visione del prodotto</a:t>
            </a:r>
          </a:p>
          <a:p xmlns:a="http://schemas.openxmlformats.org/drawingml/2006/main">
            <a:r>
              <a:t>- handoff.md, §1 Contesto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il flusso come una staffetta. Ogni ruolo riceve una commessa con un contesto e la consegna al ruolo successivo aggiornando stato, documenti e responsabilità. Il sistema canonico ha 11 stati; la slide li raggruppa in sette macro-fasi per l’onboarding.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§7 State machine delle commesse</a:t>
            </a:r>
          </a:p>
          <a:p xmlns:a="http://schemas.openxmlformats.org/drawingml/2006/main">
            <a:r>
              <a:t>- PRD Ruffino Flow v4.14, §9 Doc gate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vedere l’ordine quotidiano: prima sede, poi attività urgenti, poi calendario e dettaglio. Ricorda che la Dashboard è una sintesi: per lavorare si entra nella scheda o nella sezione specifica.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§25 Notifiche proattive</a:t>
            </a:r>
          </a:p>
          <a:p xmlns:a="http://schemas.openxmlformats.org/drawingml/2006/main">
            <a:r>
              <a:t>- Screenshot locale del prodotto; dati fittizi in memoria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 cliente e commessa: il cliente è l’anagrafica condivisa; la commessa è il lavoro specifico. L’indirizzo di residenza serve alla fatturazione, quello di lavoro serve a cantiere, calendario e mappe. Evitare duplicati: cercare il cliente prima di crearne uno nuovo.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§5 Anagrafica Cliente</a:t>
            </a:r>
          </a:p>
          <a:p xmlns:a="http://schemas.openxmlformats.org/drawingml/2006/main">
            <a:r>
              <a:t>- PRD Ruffino Flow v4.14, §6 Commesse</a:t>
            </a:r>
          </a:p>
          <a:p xmlns:a="http://schemas.openxmlformats.org/drawingml/2006/main">
            <a:r>
              <a:t>- Screenshot locale del prodotto; dati fittizi in memoria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Board è una vista della stessa state machine della scheda commessa. Avanzare una card non è un gesto estetico: comunica al reparto successivo che il passaggio è realmente avvenuto. Il bypass del documento esiste, ma va usato come eccezione consapevole.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§7 State machine</a:t>
            </a:r>
          </a:p>
          <a:p xmlns:a="http://schemas.openxmlformats.org/drawingml/2006/main">
            <a:r>
              <a:t>- PRD Ruffino Flow v4.14, §9 Doc gate</a:t>
            </a:r>
          </a:p>
          <a:p xmlns:a="http://schemas.openxmlformats.org/drawingml/2006/main">
            <a:r>
              <a:t>- PRD Ruffino Flow v4.14, §22 Archivio</a:t>
            </a:r>
          </a:p>
          <a:p xmlns:a="http://schemas.openxmlformats.org/drawingml/2006/main">
            <a:r>
              <a:t>- Screenshot locale del prodotto; dati fittizi in memoria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appuntamento deve permettere a chi lavora di capire chi, dove e quando senza telefonate di ricostruzione. Collega l’appuntamento alla commessa ogni volta che è possibile: il calendario eredita cliente, indirizzo e contesto.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§12 Calendario / Planning</a:t>
            </a:r>
          </a:p>
          <a:p xmlns:a="http://schemas.openxmlformats.org/drawingml/2006/main">
            <a:r>
              <a:t>- Screenshot locale del prodotto; dati fittizi in memoria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la differenza: Email è una inbox operativa con classificazione, collegamento e allegati; WhatsApp è oggi uno spazio di lettura e contesto, non di invio. Collegare una comunicazione alla commessa la rende parte del lavoro e la porta tra le gestite.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handoff.md, Comunicazioni operative e filtro anti-rumore</a:t>
            </a:r>
          </a:p>
          <a:p xmlns:a="http://schemas.openxmlformats.org/drawingml/2006/main">
            <a:r>
              <a:t>- handoff.md, Messaggi: route, API e limiti di canale</a:t>
            </a:r>
          </a:p>
          <a:p xmlns:a="http://schemas.openxmlformats.org/drawingml/2006/main">
            <a:r>
              <a:t>- Screenshot locale del prodotto; nessun messaggio reale mostrato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Ribadisci il principio di sicurezza: Tars propone e l’operatore resta responsabile. La pagina Oggi mette in evidenza casi e priorità; l’apertura della pagina non consuma token. Se Tars non è disponibile, il lavoro e le code restano visibili.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§2 Agente AI</a:t>
            </a:r>
          </a:p>
          <a:p xmlns:a="http://schemas.openxmlformats.org/drawingml/2006/main">
            <a:r>
              <a:t>- handoff.md, §6 Tars e caching</a:t>
            </a:r>
          </a:p>
          <a:p xmlns:a="http://schemas.openxmlformats.org/drawingml/2006/main">
            <a:r>
              <a:t>- Screenshot locale del prodotto; nessuna analisi reale eseguita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CRM è trasversale, ma non tutti devono fare tutto. Ogni collega aggiorna le informazioni del proprio passaggio. I ruoli governano ciò che si può vedere e modificare; ogni record è inoltre isolato per sede.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§4 Ruoli, permessi e gating</a:t>
            </a:r>
          </a:p>
          <a:p xmlns:a="http://schemas.openxmlformats.org/drawingml/2006/main">
            <a:r>
              <a:t>- AGENTS.md, Invarianti</a:t>
            </a:r>
          </a:p>
          <a:p xmlns:a="http://schemas.openxmlformats.org/drawingml/2006/main">
            <a:r>
              <a:t>- client/src/components/DashboardLayout.tsx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chiedendo un impegno pratico: usare Ruffino Flow come fonte comune già da oggi. Per le segnalazioni, evitare messaggi generici come “non funziona”: indicare pagina, codice commessa e azione tentata, senza inviare password o dati non necessari.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PRD Ruffino Flow v4.14, §6.6 Eliminazione vs Archiviazione</a:t>
            </a:r>
          </a:p>
          <a:p xmlns:a="http://schemas.openxmlformats.org/drawingml/2006/main">
            <a:r>
              <a:t>- AGENTS.md, Invarianti e sicurezza</a:t>
            </a:r>
          </a:p>
          <a:p xmlns:a="http://schemas.openxmlformats.org/drawingml/2006/main">
            <a:r>
              <a:t>- handoff.md, §1 Contesto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26618de214b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05b16458c4ed2" /><Relationship Type="http://schemas.openxmlformats.org/officeDocument/2006/relationships/slideLayout" Target="/ppt/slideLayouts/slideLayout1.xml" Id="Raddb296cf8b64e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db296cf8b64e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17eb47adc481b" /><Relationship Type="http://schemas.openxmlformats.org/officeDocument/2006/relationships/image" Target="/ppt/media/image.jpeg" Id="Rd547429391d24242" /><Relationship Type="http://schemas.openxmlformats.org/officeDocument/2006/relationships/image" Target="/ppt/media/image.png" Id="Ra3932c4305ec4cb2" /><Relationship Type="http://schemas.openxmlformats.org/officeDocument/2006/relationships/notesSlide" Target="/ppt/notesSlides/notesSlide1.xml" Id="Ra0873d84a91840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4da03780046f1" /><Relationship Type="http://schemas.openxmlformats.org/officeDocument/2006/relationships/notesSlide" Target="/ppt/notesSlides/notesSlide2.xml" Id="R70f5a0656e7d40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a742937e44818" /><Relationship Type="http://schemas.openxmlformats.org/officeDocument/2006/relationships/notesSlide" Target="/ppt/notesSlides/notesSlide3.xml" Id="R0aa379b6e804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6dca2397e4e1f" /><Relationship Type="http://schemas.openxmlformats.org/officeDocument/2006/relationships/image" Target="/ppt/media/image2.jpeg" Id="R6a605a48f60e4f71" /><Relationship Type="http://schemas.openxmlformats.org/officeDocument/2006/relationships/notesSlide" Target="/ppt/notesSlides/notesSlide4.xml" Id="R56b6ec311ae746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7038c20b44eac" /><Relationship Type="http://schemas.openxmlformats.org/officeDocument/2006/relationships/image" Target="/ppt/media/image3.jpeg" Id="Re21681c3f27f4073" /><Relationship Type="http://schemas.openxmlformats.org/officeDocument/2006/relationships/notesSlide" Target="/ppt/notesSlides/notesSlide5.xml" Id="R566078f82d15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79b299f1640ce" /><Relationship Type="http://schemas.openxmlformats.org/officeDocument/2006/relationships/image" Target="/ppt/media/image4.jpeg" Id="Re65cbe12cdd2460a" /><Relationship Type="http://schemas.openxmlformats.org/officeDocument/2006/relationships/notesSlide" Target="/ppt/notesSlides/notesSlide6.xml" Id="R403df65a3e444f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bc41f484c4696" /><Relationship Type="http://schemas.openxmlformats.org/officeDocument/2006/relationships/image" Target="/ppt/media/image5.jpeg" Id="R6d5a741d92694f56" /><Relationship Type="http://schemas.openxmlformats.org/officeDocument/2006/relationships/notesSlide" Target="/ppt/notesSlides/notesSlide7.xml" Id="R906f76548198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d672f39044cba" /><Relationship Type="http://schemas.openxmlformats.org/officeDocument/2006/relationships/image" Target="/ppt/media/image6.jpeg" Id="R7fb964942c7b43e3" /><Relationship Type="http://schemas.openxmlformats.org/officeDocument/2006/relationships/image" Target="/ppt/media/image7.jpeg" Id="R696d48eed3ad45a3" /><Relationship Type="http://schemas.openxmlformats.org/officeDocument/2006/relationships/notesSlide" Target="/ppt/notesSlides/notesSlide8.xml" Id="R93c521c37c2449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e0101fa3a4398" /><Relationship Type="http://schemas.openxmlformats.org/officeDocument/2006/relationships/image" Target="/ppt/media/image8.jpeg" Id="R027339e5e3c0487f" /><Relationship Type="http://schemas.openxmlformats.org/officeDocument/2006/relationships/notesSlide" Target="/ppt/notesSlides/notesSlide9.xml" Id="R121197f9ca9f44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283f184cf4a07" /><Relationship Type="http://schemas.openxmlformats.org/officeDocument/2006/relationships/notesSlide" Target="/ppt/notesSlides/notesSlide10.xml" Id="Rfc5932344d1349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37674fe244ea7" /><Relationship Type="http://schemas.openxmlformats.org/officeDocument/2006/relationships/image" Target="/ppt/media/image2.png" Id="R2086ec4c0b3946ca" /><Relationship Type="http://schemas.openxmlformats.org/officeDocument/2006/relationships/notesSlide" Target="/ppt/notesSlides/notesSlide11.xml" Id="R9facc31dc5bd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3DAF9-AF16-440D-BD48-B5E987EB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DF7B0-B0D2-4286-868A-ABA92813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09675"/>
            <a:ext cx="504825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7429391d24242"/>
          <a:srcRect xmlns:a="http://schemas.openxmlformats.org/drawingml/2006/main" l="11310" t="0" r="113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257300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32c4305ec4cb2"/>
          <a:stretch xmlns:a="http://schemas.openxmlformats.org/drawingml/2006/main"/>
        </p:blipFill>
        <p:spPr>
          <a:xfrm xmlns:a="http://schemas.openxmlformats.org/drawingml/2006/main">
            <a:off x="609600" y="532119"/>
            <a:ext cx="2667000" cy="650263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DAACCC14-D585-4357-AD7B-D87EFEA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42126"/>
                </a:solidFill>
              </a:defRPr>
            </a:pPr>
            <a:r>
              <a:rPr sz="4050" b="1">
                <a:solidFill>
                  <a:srgbClr val="242126"/>
                </a:solidFill>
              </a:rPr>
              <a:t>Ruffino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958F0-2CEA-41BA-9BA4-49E4C3D0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5B61"/>
                </a:solidFill>
              </a:defRPr>
            </a:pPr>
            <a:r>
              <a:rPr sz="1800" b="0">
                <a:solidFill>
                  <a:srgbClr val="665B61"/>
                </a:solidFill>
              </a:rPr>
              <a:t>Il lavoro, dalla prima richiesta al post-vendita, in un unico posto.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AF7F9-FDA8-4781-9CFB-D2ECBA2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858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CCD19-600C-4D65-8026-A2CD71E9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2F55"/>
                </a:solidFill>
              </a:defRPr>
            </a:pPr>
            <a:r>
              <a:rPr sz="1125" b="1">
                <a:solidFill>
                  <a:srgbClr val="D92F55"/>
                </a:solidFill>
              </a:rPr>
              <a:t>Lancio aziendale · 25 agosto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32BB4-A5CB-4264-B615-467EE1E3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ONBOARDING OPERATIVO</a:t>
            </a:r>
          </a:p>
        </p:txBody>
      </p:sp>
    </p:spTree>
    <p:extLst>
      <p:ext uri="{BB962C8B-B14F-4D97-AF65-F5344CB8AC3E}">
        <p14:creationId xmlns:p14="http://schemas.microsoft.com/office/powerpoint/2010/main" val="1101896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89104-5997-4E09-80F0-7D6F6534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IL PRINCIPIO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D5F0F22-7CDD-4A1A-BE71-8DBE46B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Un solo posto per sapere cosa succede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4A24D-FD31-4542-BDF4-828B3328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8FCFE-E9D4-40A0-8FE4-0959DEB5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428E8-84B0-44B8-839B-124696A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E37C5-8231-498E-8E43-8F79CB28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F55"/>
                </a:solidFill>
              </a:defRPr>
            </a:pPr>
            <a:r>
              <a:rPr sz="1875" b="1">
                <a:solidFill>
                  <a:srgbClr val="D92F5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F016E-7563-44DF-89EA-1C83B0A7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A6482-3B51-4D2F-8EA1-BEDD54F3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26"/>
                </a:solidFill>
              </a:defRPr>
            </a:pPr>
            <a:r>
              <a:rPr sz="1725" b="1">
                <a:solidFill>
                  <a:srgbClr val="242126"/>
                </a:solidFill>
              </a:rPr>
              <a:t>Chi è il 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EC106-EB8C-4D6F-B11E-5591F590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3028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B61"/>
                </a:solidFill>
              </a:defRPr>
            </a:pPr>
            <a:r>
              <a:rPr sz="1200" b="0">
                <a:solidFill>
                  <a:srgbClr val="665B61"/>
                </a:solidFill>
              </a:rPr>
              <a:t>Contatti, indirizzi, referenti e storico restano collegati.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EA6A9-7623-4AF9-8ED7-CF65C9A9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621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C35"/>
                </a:solidFill>
              </a:defRPr>
            </a:pPr>
            <a:r>
              <a:rPr sz="1875" b="1">
                <a:solidFill>
                  <a:srgbClr val="123C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4CA9B-9A08-41F7-A892-253E09B4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336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25FA3-90D0-49A6-9BCE-D3DC6B2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0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26"/>
                </a:solidFill>
              </a:defRPr>
            </a:pPr>
            <a:r>
              <a:rPr sz="1725" b="1">
                <a:solidFill>
                  <a:srgbClr val="242126"/>
                </a:solidFill>
              </a:rPr>
              <a:t>A che punto è la commessa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9F2CE-F20C-4816-B462-341C600A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76600"/>
            <a:ext cx="3028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B61"/>
                </a:solidFill>
              </a:defRPr>
            </a:pPr>
            <a:r>
              <a:rPr sz="1200" b="0">
                <a:solidFill>
                  <a:srgbClr val="665B61"/>
                </a:solidFill>
              </a:rPr>
              <a:t>Stato, documenti, interventi, pagamenti e anomalie convivono nel fascicolo.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71989-0E9F-4EBD-9302-4B707901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55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2F55"/>
                </a:solidFill>
              </a:defRPr>
            </a:pPr>
            <a:r>
              <a:rPr sz="1875" b="1">
                <a:solidFill>
                  <a:srgbClr val="D92F5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7A35B-EA2F-4EE6-9793-4618C6E8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BB0A5-985A-4668-9E79-0059AB67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126"/>
                </a:solidFill>
              </a:defRPr>
            </a:pPr>
            <a:r>
              <a:rPr sz="1725" b="1">
                <a:solidFill>
                  <a:srgbClr val="242126"/>
                </a:solidFill>
              </a:rPr>
              <a:t>Qual è la prossima azione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CDCE8-BCAD-4C73-B919-019A7C5E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3028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5B61"/>
                </a:solidFill>
              </a:defRPr>
            </a:pPr>
            <a:r>
              <a:rPr sz="1200" b="0">
                <a:solidFill>
                  <a:srgbClr val="665B61"/>
                </a:solidFill>
              </a:rPr>
              <a:t>Assegnazione, priorità, scadenze e blocchi sono visibili al team.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A8C1C-93D7-4506-BBD9-DB7321E8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74420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5E3DD-46D5-4493-B038-C04122E2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14925"/>
            <a:ext cx="1017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Se il dato è nel CRM, il team può agire.</a:t>
            </a:r>
          </a:p>
        </p:txBody>
      </p:sp>
    </p:spTree>
    <p:extLst>
      <p:ext uri="{BB962C8B-B14F-4D97-AF65-F5344CB8AC3E}">
        <p14:creationId xmlns:p14="http://schemas.microsoft.com/office/powerpoint/2010/main" val="1214203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61A19-8AB0-49A5-8699-0AE606ED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IL FLUSSO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E1D3600-DE41-4738-9334-38F2F92D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Ogni commessa segue un percorso tracciato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70226-526C-4D07-8BBD-4852F57D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D5EF2-D547-4A6A-B473-3E492D31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94F84-4161-4CCD-8962-CE076B67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A52D8-A3E2-453F-AAB6-E125272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8605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DCE0"/>
          </a:solidFill>
          <a:ln xmlns:a="http://schemas.openxmlformats.org/drawingml/2006/main" w="0">
            <a:solidFill>
              <a:srgbClr val="E7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4BA05-A962-4364-B66C-1542142F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8605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DCE0"/>
          </a:solidFill>
          <a:ln xmlns:a="http://schemas.openxmlformats.org/drawingml/2006/main" w="0">
            <a:solidFill>
              <a:srgbClr val="E7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916E1-BED3-466C-89A3-A0F143F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DCE0"/>
          </a:solidFill>
          <a:ln xmlns:a="http://schemas.openxmlformats.org/drawingml/2006/main" w="0">
            <a:solidFill>
              <a:srgbClr val="E7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F3E6E-F84C-404E-9BAF-0BA0A95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8605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DCE0"/>
          </a:solidFill>
          <a:ln xmlns:a="http://schemas.openxmlformats.org/drawingml/2006/main" w="0">
            <a:solidFill>
              <a:srgbClr val="E7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A687B-0FBD-4F16-A7C3-21A0055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DCE0"/>
          </a:solidFill>
          <a:ln xmlns:a="http://schemas.openxmlformats.org/drawingml/2006/main" w="0">
            <a:solidFill>
              <a:srgbClr val="E7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007E3-67D0-4A13-8C95-5778573E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68605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DCE0"/>
          </a:solidFill>
          <a:ln xmlns:a="http://schemas.openxmlformats.org/drawingml/2006/main" w="0">
            <a:solidFill>
              <a:srgbClr val="E7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A7C0B-A751-4C42-B57B-E805442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409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19050">
            <a:solidFill>
              <a:srgbClr val="D92F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801A8-5563-4CCE-A281-2B2191B5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Richiesta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FBAA9-1602-43AD-9AE5-F36616D0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362200"/>
            <a:ext cx="1409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19050">
            <a:solidFill>
              <a:srgbClr val="2F63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121BE-56AC-4CD5-8F63-B5278528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90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Preventivo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01FF0-A444-4095-A935-3CE55D0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62200"/>
            <a:ext cx="1409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19050">
            <a:solidFill>
              <a:srgbClr val="7650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CAC6A-FCF6-496E-9084-ACFD35A7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90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Misure e contratto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1E23A-FBF8-4E79-9000-31E4BECD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62200"/>
            <a:ext cx="1409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19050">
            <a:solidFill>
              <a:srgbClr val="D58A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0D087-EE08-41B8-97B8-9D0838D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90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Ordini e produzione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22874-A2AE-4E5E-AB45-56543F2B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409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19050">
            <a:solidFill>
              <a:srgbClr val="2B5D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4D06E-C27D-475D-9222-4254B5A2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Posa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83448-D1E8-40D2-8000-0D83DBEC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62200"/>
            <a:ext cx="1409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19050">
            <a:solidFill>
              <a:srgbClr val="1553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B1CC5-5B76-4171-B8F2-A09BF094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90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Saldo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9421F-8641-40C2-9828-F1D503AE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62200"/>
            <a:ext cx="14097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19050">
            <a:solidFill>
              <a:srgbClr val="665B6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6A344-1C4F-4CF3-B725-118D053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908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Post-vendita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0B187-8B1A-4B6C-9A37-6F3F7931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66A70"/>
                </a:solidFill>
              </a:defRPr>
            </a:pPr>
            <a:r>
              <a:rPr sz="1200" b="0">
                <a:solidFill>
                  <a:srgbClr val="766A70"/>
                </a:solidFill>
              </a:rPr>
              <a:t>Il percorso reale contiene passaggi più dettagliati; questa è la mappa mentale da ricordare.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972EB8-1E0E-4CD6-B8A9-9B140D0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8953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2D58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369C1-1D1B-4F47-BB04-3D7EBA22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2440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126"/>
                </a:solidFill>
              </a:defRPr>
            </a:pPr>
            <a:r>
              <a:rPr sz="1650" b="1">
                <a:solidFill>
                  <a:srgbClr val="242126"/>
                </a:solidFill>
              </a:rPr>
              <a:t>Lo stato cambia quando cambia il lavoro — e i documenti richiesti viaggiano con la commessa.</a:t>
            </a:r>
          </a:p>
        </p:txBody>
      </p:sp>
    </p:spTree>
    <p:extLst>
      <p:ext uri="{BB962C8B-B14F-4D97-AF65-F5344CB8AC3E}">
        <p14:creationId xmlns:p14="http://schemas.microsoft.com/office/powerpoint/2010/main" val="202177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401CB-DEE5-48C4-9991-35D05E7C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ORIENTARSI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379D105-E8B4-4A6E-A97D-35337329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La giornata parte da sede, priorità e scadenze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7E756-396F-436C-AA03-7E259362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4C7EA-F73D-4BC6-A8CA-4C7CA663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89DDE-E0D4-4A12-83AC-890178F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07600-22C3-4F1A-9908-EFC8DADB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5B12-14DF-4F29-8F9B-CA1CCA59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CC876-FA76-44D1-9D2F-818F13FC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33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26"/>
                </a:solidFill>
              </a:defRPr>
            </a:pPr>
            <a:r>
              <a:rPr sz="1500" b="1">
                <a:solidFill>
                  <a:srgbClr val="242126"/>
                </a:solidFill>
              </a:rPr>
              <a:t>Controlla la sede attiva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594A8-7673-4DBE-B578-48C45D44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Ogni cliente, commessa e azione appartiene alla sede selezionata.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5C690-B8DE-43CB-B68C-F4712BF5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224F2-00F1-4508-9CF5-B7419DA4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47756-711A-4B0C-989B-96AF5DFB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26"/>
                </a:solidFill>
              </a:defRPr>
            </a:pPr>
            <a:r>
              <a:rPr sz="1500" b="1">
                <a:solidFill>
                  <a:srgbClr val="242126"/>
                </a:solidFill>
              </a:rPr>
              <a:t>Leggi “Da fare oggi”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ECF88-1A43-4B78-83F4-D14EB61C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Urgenze, consegne e ticket emergono prima delle liste complete.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F5E3A-D7BE-4CF5-8692-B7945EC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046"/>
          </a:solidFill>
          <a:ln xmlns:a="http://schemas.openxmlformats.org/drawingml/2006/main" w="0">
            <a:solidFill>
              <a:srgbClr val="EF70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8B44D-D160-4E6F-A980-7767EA80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01ADF-459D-4C98-81BD-26F7BA4B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62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26"/>
                </a:solidFill>
              </a:defRPr>
            </a:pPr>
            <a:r>
              <a:rPr sz="1500" b="1">
                <a:solidFill>
                  <a:srgbClr val="242126"/>
                </a:solidFill>
              </a:rPr>
              <a:t>Apri le notifiche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60689-A077-4607-859B-D4C33F1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72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Sono personali; la direzione può vedere anche il quadro della sede.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E8F97-A649-4C7D-A265-DA377FC0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28775"/>
            <a:ext cx="7162800" cy="4076700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05a48f60e4f71"/>
          <a:srcRect xmlns:a="http://schemas.openxmlformats.org/drawingml/2006/main" l="0" t="4933" r="0" b="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676400"/>
            <a:ext cx="7067550" cy="3981450"/>
          </a:xfrm>
          <a:prstGeom xmlns:a="http://schemas.openxmlformats.org/drawingml/2006/main" prst="roundRect">
            <a:avLst>
              <a:gd name="adj" fmla="val 3828"/>
            </a:avLst>
          </a:prstGeom>
        </p:spPr>
      </p:pic>
    </p:spTree>
    <p:extLst>
      <p:ext uri="{BB962C8B-B14F-4D97-AF65-F5344CB8AC3E}">
        <p14:creationId xmlns:p14="http://schemas.microsoft.com/office/powerpoint/2010/main" val="1422082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7FFEF-0D4F-43F0-9AF4-3DBD02EC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IL FASCICOLO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1546FE2-E440-4843-A0ED-526D55BE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Cliente e commessa: due schede, un solo contesto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25230-D0B0-4F9C-8945-CC1962C8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DD555-9C01-4E26-AC03-71D9D1D3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CA892-9951-4DF8-9D62-8EB0B683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8BD54-D81C-455D-891C-99503895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09725"/>
            <a:ext cx="7620000" cy="430530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681c3f27f4073"/>
          <a:srcRect xmlns:a="http://schemas.openxmlformats.org/drawingml/2006/main" l="0" t="5241" r="0" b="5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657350"/>
            <a:ext cx="7524750" cy="4210050"/>
          </a:xfrm>
          <a:prstGeom xmlns:a="http://schemas.openxmlformats.org/drawingml/2006/main" prst="roundRect">
            <a:avLst>
              <a:gd name="adj" fmla="val 362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791DD-9177-41E1-A65B-023D39EB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2F55"/>
                </a:solidFill>
              </a:defRPr>
            </a:pPr>
            <a:r>
              <a:rPr sz="1425" b="1">
                <a:solidFill>
                  <a:srgbClr val="D92F55"/>
                </a:solidFill>
              </a:rPr>
              <a:t>Nella scheda commessa trovi: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A6C9F-78F4-4B7E-BD70-492DF9C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71725"/>
            <a:ext cx="342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A82BC-17F2-4425-B851-959E259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26"/>
                </a:solidFill>
              </a:defRPr>
            </a:pPr>
            <a:r>
              <a:rPr sz="1350" b="1">
                <a:solidFill>
                  <a:srgbClr val="242126"/>
                </a:solidFill>
              </a:rPr>
              <a:t>Contatti e cantiere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375EB-684C-4B25-BF6D-F4D15B7D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67025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B61"/>
                </a:solidFill>
              </a:defRPr>
            </a:pPr>
            <a:r>
              <a:rPr sz="1050" b="0">
                <a:solidFill>
                  <a:srgbClr val="665B61"/>
                </a:solidFill>
              </a:rPr>
              <a:t>Cliente, indirizzo di lavoro, telefono e responsabile.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566D0-615F-4778-8810-119A2FEC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342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372B3-82D9-44D9-8659-C8A89DCD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9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26"/>
                </a:solidFill>
              </a:defRPr>
            </a:pPr>
            <a:r>
              <a:rPr sz="1350" b="1">
                <a:solidFill>
                  <a:srgbClr val="242126"/>
                </a:solidFill>
              </a:rPr>
              <a:t>Stato e prossima azione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921DD-6C9A-4691-9C27-4AF7045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14775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B61"/>
                </a:solidFill>
              </a:defRPr>
            </a:pPr>
            <a:r>
              <a:rPr sz="1050" b="0">
                <a:solidFill>
                  <a:srgbClr val="665B61"/>
                </a:solidFill>
              </a:rPr>
              <a:t>Priorità, avanzamento e consegna indicativa o confermata.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A67E3-71DE-4515-9576-54DE626C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342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69CCA-50E3-4A07-85EF-7769D9CA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57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26"/>
                </a:solidFill>
              </a:defRPr>
            </a:pPr>
            <a:r>
              <a:rPr sz="1350" b="1">
                <a:solidFill>
                  <a:srgbClr val="242126"/>
                </a:solidFill>
              </a:rPr>
              <a:t>Documenti e attività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A1B98-EC6D-44A9-81B7-6561F280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62525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B61"/>
                </a:solidFill>
              </a:defRPr>
            </a:pPr>
            <a:r>
              <a:rPr sz="1050" b="0">
                <a:solidFill>
                  <a:srgbClr val="665B61"/>
                </a:solidFill>
              </a:rPr>
              <a:t>File, rilievi, ordini, interventi, ticket e pagamenti.</a:t>
            </a:r>
          </a:p>
        </p:txBody>
      </p:sp>
    </p:spTree>
    <p:extLst>
      <p:ext uri="{BB962C8B-B14F-4D97-AF65-F5344CB8AC3E}">
        <p14:creationId xmlns:p14="http://schemas.microsoft.com/office/powerpoint/2010/main" val="931509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CD702-DBF4-4145-A65E-2053A926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AVANZAMENTO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72A144C-473D-41F9-B29A-AE4B629A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La Board rende visibile dove il lavoro si ferma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0E311-1757-4872-AF68-F99A8FE1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E7AB5-C0A4-4C65-9CDD-01401BAF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3A7C2-1A18-4760-AB8A-BB84B69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479CB-8DA1-4D66-AC3B-17ECD449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71625"/>
            <a:ext cx="11106150" cy="377190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cbe12cdd2460a"/>
          <a:srcRect xmlns:a="http://schemas.openxmlformats.org/drawingml/2006/main" l="0" t="23287" r="0" b="23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619250"/>
            <a:ext cx="11010900" cy="3676650"/>
          </a:xfrm>
          <a:prstGeom xmlns:a="http://schemas.openxmlformats.org/drawingml/2006/main" prst="roundRect">
            <a:avLst>
              <a:gd name="adj" fmla="val 414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BF8F9-0B0E-4026-8F79-23A1E092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F55"/>
                </a:solidFill>
              </a:defRPr>
            </a:pPr>
            <a:r>
              <a:rPr sz="1350" b="1">
                <a:solidFill>
                  <a:srgbClr val="D92F5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446B2-32B5-47ED-BE90-112DAE1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43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Avanza di una fase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E9173-30A2-4F5C-9BA1-49A81F5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5B61"/>
                </a:solidFill>
              </a:defRPr>
            </a:pPr>
            <a:r>
              <a:rPr sz="975" b="0">
                <a:solidFill>
                  <a:srgbClr val="665B61"/>
                </a:solidFill>
              </a:rPr>
              <a:t>Niente salti multipli.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5F473-5F1D-47F7-AE9F-627E6651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721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F55"/>
                </a:solidFill>
              </a:defRPr>
            </a:pPr>
            <a:r>
              <a:rPr sz="1350" b="1">
                <a:solidFill>
                  <a:srgbClr val="D92F5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20241-47D5-42CC-863A-3459B717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43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Rispetta il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4B013-E157-42EA-A04D-40FF6EF1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29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5B61"/>
                </a:solidFill>
              </a:defRPr>
            </a:pPr>
            <a:r>
              <a:rPr sz="975" b="0">
                <a:solidFill>
                  <a:srgbClr val="665B61"/>
                </a:solidFill>
              </a:rPr>
              <a:t>Carica il documento richiesto.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5424C-3BD7-4B0F-9689-2284D23D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721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F55"/>
                </a:solidFill>
              </a:defRPr>
            </a:pPr>
            <a:r>
              <a:rPr sz="1350" b="1">
                <a:solidFill>
                  <a:srgbClr val="D92F5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A3478-AC61-437D-8363-CD22F8B5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43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126"/>
                </a:solidFill>
              </a:defRPr>
            </a:pPr>
            <a:r>
              <a:rPr sz="1200" b="1">
                <a:solidFill>
                  <a:srgbClr val="242126"/>
                </a:solidFill>
              </a:rPr>
              <a:t>Archivia, non cancellare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72C01-7073-48F9-BD77-97669606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829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5B61"/>
                </a:solidFill>
              </a:defRPr>
            </a:pPr>
            <a:r>
              <a:rPr sz="975" b="0">
                <a:solidFill>
                  <a:srgbClr val="665B61"/>
                </a:solidFill>
              </a:rPr>
              <a:t>Se il cliente non procede.</a:t>
            </a:r>
          </a:p>
        </p:txBody>
      </p:sp>
    </p:spTree>
    <p:extLst>
      <p:ext uri="{BB962C8B-B14F-4D97-AF65-F5344CB8AC3E}">
        <p14:creationId xmlns:p14="http://schemas.microsoft.com/office/powerpoint/2010/main" val="1554422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FB061-FD0E-4EAF-B12A-0268EC33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CANTIERE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5DE9902-50AB-4CAC-BBA1-2C159C82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Il calendario deve rispondere a tre domande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9A720-0536-43B4-9ECC-11CC0F19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96DEE-DFEA-41DD-8FAD-E7A08770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8DFB4-7A80-4864-A1D9-6876C81A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CB17B-DB34-4C3A-8D6C-34A13C8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2F55"/>
                </a:solidFill>
              </a:defRPr>
            </a:pPr>
            <a:r>
              <a:rPr sz="2250" b="1">
                <a:solidFill>
                  <a:srgbClr val="D92F55"/>
                </a:solidFill>
              </a:rPr>
              <a:t>CHI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1D74-0858-45AD-907C-E92D95CA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B61"/>
                </a:solidFill>
              </a:defRPr>
            </a:pPr>
            <a:r>
              <a:rPr sz="1275" b="0">
                <a:solidFill>
                  <a:srgbClr val="665B61"/>
                </a:solidFill>
              </a:rPr>
              <a:t>Squadra e referente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80ABE-6BFE-4B58-9E92-425218A1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C35"/>
                </a:solidFill>
              </a:defRPr>
            </a:pPr>
            <a:r>
              <a:rPr sz="2250" b="1">
                <a:solidFill>
                  <a:srgbClr val="123C35"/>
                </a:solidFill>
              </a:rPr>
              <a:t>DOVE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5B6DD-6DC6-40B1-A467-87542E72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B61"/>
                </a:solidFill>
              </a:defRPr>
            </a:pPr>
            <a:r>
              <a:rPr sz="1275" b="0">
                <a:solidFill>
                  <a:srgbClr val="665B61"/>
                </a:solidFill>
              </a:rPr>
              <a:t>Indirizzo di lavoro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B61FE-24EE-42D9-B62A-0E6E20D7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F7046"/>
                </a:solidFill>
              </a:defRPr>
            </a:pPr>
            <a:r>
              <a:rPr sz="2250" b="1">
                <a:solidFill>
                  <a:srgbClr val="EF7046"/>
                </a:solidFill>
              </a:rPr>
              <a:t>QUANDO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05A65-ED5A-4C9C-A808-814ED940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B61"/>
                </a:solidFill>
              </a:defRPr>
            </a:pPr>
            <a:r>
              <a:rPr sz="1275" b="0">
                <a:solidFill>
                  <a:srgbClr val="665B61"/>
                </a:solidFill>
              </a:rPr>
              <a:t>Data e orari reali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78D1C-13DB-4B09-8567-3438C191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09725"/>
            <a:ext cx="7962900" cy="42672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a741d92694f56"/>
          <a:srcRect xmlns:a="http://schemas.openxmlformats.org/drawingml/2006/main" l="0" t="7579" r="0" b="7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1657350"/>
            <a:ext cx="7867650" cy="4171950"/>
          </a:xfrm>
          <a:prstGeom xmlns:a="http://schemas.openxmlformats.org/drawingml/2006/main" prst="roundRect">
            <a:avLst>
              <a:gd name="adj" fmla="val 3653"/>
            </a:avLst>
          </a:prstGeom>
        </p:spPr>
      </p:pic>
    </p:spTree>
    <p:extLst>
      <p:ext uri="{BB962C8B-B14F-4D97-AF65-F5344CB8AC3E}">
        <p14:creationId xmlns:p14="http://schemas.microsoft.com/office/powerpoint/2010/main" val="16963901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BF5E7-6378-40A5-BE56-CDA04EF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MESSAGGI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5A1E7CA-0618-47EC-A149-3A2D8927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Email e WhatsApp diventano lavoro collegabile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AA4F9-BD6D-49DE-83E6-60B6A156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2C87C-AE77-410E-BC49-40B6387C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431FA-8DF5-4B5C-B492-8484ABBA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3DACF-B245-44BF-A489-E439D99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6762750" cy="3676650"/>
          </a:xfrm>
          <a:prstGeom xmlns:a="http://schemas.openxmlformats.org/drawingml/2006/main" prst="roundRect">
            <a:avLst>
              <a:gd name="adj" fmla="val 5181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964942c7b43e3"/>
          <a:srcRect xmlns:a="http://schemas.openxmlformats.org/drawingml/2006/main" l="0" t="7029" r="0" b="70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85925"/>
            <a:ext cx="6667500" cy="358140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76E01-5D05-4098-9E30-0BD738D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3952875" cy="300990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d48eed3ad45a3"/>
          <a:srcRect xmlns:a="http://schemas.openxmlformats.org/drawingml/2006/main" l="8640" t="0" r="86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2009775"/>
            <a:ext cx="3857625" cy="2914650"/>
          </a:xfrm>
          <a:prstGeom xmlns:a="http://schemas.openxmlformats.org/drawingml/2006/main" prst="roundRect">
            <a:avLst>
              <a:gd name="adj" fmla="val 522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6AD81-537C-40DD-94F6-1C42634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902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E9C20-103B-4A8D-A9AA-30A54B07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Messaggio  →  cliente o commessa  →  azione verificabile</a:t>
            </a:r>
          </a:p>
        </p:txBody>
      </p:sp>
    </p:spTree>
    <p:extLst>
      <p:ext uri="{BB962C8B-B14F-4D97-AF65-F5344CB8AC3E}">
        <p14:creationId xmlns:p14="http://schemas.microsoft.com/office/powerpoint/2010/main" val="15362582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F89C8-5CE4-4CD4-9C37-4B98A47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ASSISTENTE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37E3F1FD-6877-485D-8766-877DC846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Tars aiuta a decidere, non decide al posto nostro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F3565-EEFE-4DE0-AA6A-F2938A31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45C26-5775-47DD-8278-EF001E49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7D77E-145E-4605-BFAE-5AD32C24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C29EA-9294-4982-B652-8E74CC6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CF62D-4997-41FE-8EDD-868CFB19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FE460-B54B-4546-850F-3F72246F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335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26"/>
                </a:solidFill>
              </a:defRPr>
            </a:pPr>
            <a:r>
              <a:rPr sz="1500" b="1">
                <a:solidFill>
                  <a:srgbClr val="242126"/>
                </a:solidFill>
              </a:rPr>
              <a:t>Legge il contesto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CFD80-0BF3-4F79-91BE-7D577FB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Raccoglie fascicolo, comunicazioni e segnali utili.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3CCB9-1330-40F1-989D-669B062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97539-0A60-4D03-8DE2-FF7164C5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E20B6-C7C1-44D5-8741-C3085F31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26"/>
                </a:solidFill>
              </a:defRPr>
            </a:pPr>
            <a:r>
              <a:rPr sz="1500" b="1">
                <a:solidFill>
                  <a:srgbClr val="242126"/>
                </a:solidFill>
              </a:rPr>
              <a:t>Propone un’azione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44D8C-27E1-4B75-B2B9-98ACEA9B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La proposta resta visibile e motivata.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33445-18B4-477C-A282-B18D1115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046"/>
          </a:solidFill>
          <a:ln xmlns:a="http://schemas.openxmlformats.org/drawingml/2006/main" w="0">
            <a:solidFill>
              <a:srgbClr val="EF70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226DD-1807-4829-A700-E4D3DE7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3ECC8-D604-4B97-B90A-01DD5831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6242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26"/>
                </a:solidFill>
              </a:defRPr>
            </a:pPr>
            <a:r>
              <a:rPr sz="1500" b="1">
                <a:solidFill>
                  <a:srgbClr val="242126"/>
                </a:solidFill>
              </a:rPr>
              <a:t>Tu scegli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ACA1D-F54C-43C4-9CFA-223D12B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7225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Approvi, rifiuti o chiedi un approfondimento.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BD52C-8813-41BE-8216-A9E8C364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28775"/>
            <a:ext cx="6877050" cy="4076700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EFE"/>
          </a:solidFill>
          <a:ln xmlns:a="http://schemas.openxmlformats.org/drawingml/2006/main" w="9525">
            <a:solidFill>
              <a:srgbClr val="E7DC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339e5e3c0487f"/>
          <a:srcRect xmlns:a="http://schemas.openxmlformats.org/drawingml/2006/main" l="0" t="3034" r="0" b="3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676400"/>
            <a:ext cx="6781800" cy="3981450"/>
          </a:xfrm>
          <a:prstGeom xmlns:a="http://schemas.openxmlformats.org/drawingml/2006/main" prst="roundRect">
            <a:avLst>
              <a:gd name="adj" fmla="val 3828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910FB-E0F3-4E27-8E0C-D44A093C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76850"/>
            <a:ext cx="40957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433F44-1223-4A30-BB28-8132889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4830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Nessuna modifica senza approvazione.</a:t>
            </a:r>
          </a:p>
        </p:txBody>
      </p:sp>
    </p:spTree>
    <p:extLst>
      <p:ext uri="{BB962C8B-B14F-4D97-AF65-F5344CB8AC3E}">
        <p14:creationId xmlns:p14="http://schemas.microsoft.com/office/powerpoint/2010/main" val="1481413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9FD98-A34D-4082-ADF0-354F6AC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F55"/>
                </a:solidFill>
              </a:defRPr>
            </a:pPr>
            <a:r>
              <a:rPr sz="825" b="1">
                <a:solidFill>
                  <a:srgbClr val="D92F55"/>
                </a:solidFill>
              </a:rPr>
              <a:t>RESPONSABILITÀ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F3D5BF84-05FB-424C-97F9-F652A22C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2126"/>
                </a:solidFill>
              </a:defRPr>
            </a:pPr>
            <a:r>
              <a:rPr sz="2625" b="1">
                <a:solidFill>
                  <a:srgbClr val="242126"/>
                </a:solidFill>
              </a:rPr>
              <a:t>Ognuno aggiorna il proprio pezzo, tutti vedono il quadro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E18F1-2DEE-472D-A594-8BA5A4DF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143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042A4-0DDE-4EF0-A4C4-ED4D8F78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6A70"/>
                </a:solidFill>
              </a:defRPr>
            </a:pPr>
            <a:r>
              <a:rPr sz="750" b="1">
                <a:solidFill>
                  <a:srgbClr val="766A70"/>
                </a:solidFill>
              </a:rPr>
              <a:t>RUFFINO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63E65-A940-4365-BDB2-7370C11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66A70"/>
                </a:solidFill>
              </a:defRPr>
            </a:pPr>
            <a:r>
              <a:rPr sz="825" b="1">
                <a:solidFill>
                  <a:srgbClr val="766A70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884A1-9F7C-4767-9E08-CA7B4AA3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C7EAD-B55A-44D3-8D88-02BE8566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62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26"/>
                </a:solidFill>
              </a:defRPr>
            </a:pPr>
            <a:r>
              <a:rPr sz="1425" b="1">
                <a:solidFill>
                  <a:srgbClr val="242126"/>
                </a:solidFill>
              </a:rPr>
              <a:t>Commerciale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856F9-1466-4F30-B27D-D2614359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050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Cliente, preventivo, priorità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C12C-2DB7-4D8A-B78C-8416E7C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38325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3EC0E-01EB-4DC3-9397-AF989FC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62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26"/>
                </a:solidFill>
              </a:defRPr>
            </a:pPr>
            <a:r>
              <a:rPr sz="1425" b="1">
                <a:solidFill>
                  <a:srgbClr val="242126"/>
                </a:solidFill>
              </a:rPr>
              <a:t>Tecnico rilievi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E2B91-DAEF-4FD7-8B1B-7CA92E27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050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Misure, documenti, esito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90287-A14C-414E-ADEE-873C5D4A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447F0-935B-4A00-B934-1694770E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6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26"/>
                </a:solidFill>
              </a:defRPr>
            </a:pPr>
            <a:r>
              <a:rPr sz="1425" b="1">
                <a:solidFill>
                  <a:srgbClr val="242126"/>
                </a:solidFill>
              </a:rPr>
              <a:t>Ordini e laboratorio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A04AA-BFF4-4034-A405-CFAD3FC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28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Fornitori, produzione, consegna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CD62F-978D-4879-B47B-21A6F380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99B62-6E24-4D2F-9FAC-BCAE40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26"/>
                </a:solidFill>
              </a:defRPr>
            </a:pPr>
            <a:r>
              <a:rPr sz="1425" b="1">
                <a:solidFill>
                  <a:srgbClr val="242126"/>
                </a:solidFill>
              </a:rPr>
              <a:t>Posa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B882B-E06C-4163-B76F-AC31BF10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289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Calendario, cantiere, verbale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D752D-9D24-475F-873D-305F055B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2012A-4E7B-4FFA-AF93-1E9AF261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00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26"/>
                </a:solidFill>
              </a:defRPr>
            </a:pPr>
            <a:r>
              <a:rPr sz="1425" b="1">
                <a:solidFill>
                  <a:srgbClr val="242126"/>
                </a:solidFill>
              </a:rPr>
              <a:t>Amministrazione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9C234-EC65-4A84-B487-365E519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Fatture, acconti, saldo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8BF56-132F-4911-83B0-516468E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86225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9533E-0C58-4143-B6FE-51914B88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00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26"/>
                </a:solidFill>
              </a:defRPr>
            </a:pPr>
            <a:r>
              <a:rPr sz="1425" b="1">
                <a:solidFill>
                  <a:srgbClr val="242126"/>
                </a:solidFill>
              </a:rPr>
              <a:t>Post-vendita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08D5A-BFAA-4666-8DCC-830ADE94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52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5B61"/>
                </a:solidFill>
              </a:defRPr>
            </a:pPr>
            <a:r>
              <a:rPr sz="1125" b="0">
                <a:solidFill>
                  <a:srgbClr val="665B61"/>
                </a:solidFill>
              </a:rPr>
              <a:t>Ticket, reclami, rifacimenti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9F5C36-F1CC-4682-8BC6-171901A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1074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D8F5ED"/>
          </a:solidFill>
          <a:ln xmlns:a="http://schemas.openxmlformats.org/drawingml/2006/main" w="0">
            <a:solidFill>
              <a:srgbClr val="D8F5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DF30D1-B9BD-4494-A718-9F0C1CBF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534B"/>
                </a:solidFill>
              </a:defRPr>
            </a:pPr>
            <a:r>
              <a:rPr sz="1650" b="1">
                <a:solidFill>
                  <a:srgbClr val="15534B"/>
                </a:solidFill>
              </a:rPr>
              <a:t>I permessi proteggono le funzioni. La sede protegge i dati.</a:t>
            </a:r>
          </a:p>
        </p:txBody>
      </p:sp>
    </p:spTree>
    <p:extLst>
      <p:ext uri="{BB962C8B-B14F-4D97-AF65-F5344CB8AC3E}">
        <p14:creationId xmlns:p14="http://schemas.microsoft.com/office/powerpoint/2010/main" val="1918724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6ec4c0b3946ca"/>
          <a:stretch xmlns:a="http://schemas.openxmlformats.org/drawingml/2006/main"/>
        </p:blipFill>
        <p:spPr>
          <a:xfrm xmlns:a="http://schemas.openxmlformats.org/drawingml/2006/main">
            <a:off x="9829800" y="595313"/>
            <a:ext cx="1619250" cy="809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3FF05-5EB5-4F60-927D-2F8D15E5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D75"/>
                </a:solidFill>
              </a:defRPr>
            </a:pPr>
            <a:r>
              <a:rPr sz="900" b="1">
                <a:solidFill>
                  <a:srgbClr val="FF8D75"/>
                </a:solidFill>
              </a:rPr>
              <a:t>DA OGGI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96E8B27-CFC9-40B4-AA74-84BEA91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90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Cinque abitudini per lavorare bene insieme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A1DBB-3C93-49F5-90B5-73E549A6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9274D-9104-45A6-B692-F43D360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A9F4E-D840-47D3-A8FF-336F6247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Cerca prima di creare un cliente o una commessa.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FB475-DB90-46C1-A984-95E6BE9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47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C1763-7441-41B5-9DCA-6191E1F7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A710D-73AC-4F4C-B2C0-B9EE5D22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Assegna sempre un responsabile e una priorità realistica.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C3A30-C6C4-4040-B004-A734366C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7903E-C493-413E-873B-7A520586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9A4B3-0AB5-441D-83D5-B43AAA01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Aggiorna stato, date e appuntamenti quando il lavoro cambia.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6628C-9C0C-4BBE-88A9-DCA9077E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F55"/>
          </a:solidFill>
          <a:ln xmlns:a="http://schemas.openxmlformats.org/drawingml/2006/main" w="0">
            <a:solidFill>
              <a:srgbClr val="D92F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1780C-F144-4DA0-92BC-E74CD93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D81EF-F302-4898-B137-EDAEFA40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Carica documenti e note nel fascicolo corretto.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4A71E-DC7C-4B01-A900-8FD5064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046"/>
          </a:solidFill>
          <a:ln xmlns:a="http://schemas.openxmlformats.org/drawingml/2006/main" w="0">
            <a:solidFill>
              <a:srgbClr val="EF70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D394F-7F79-4114-BC65-1053B048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70568-F482-4584-8C56-D47D33B9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Archivia quando il cliente non procede; elimina solo gli errori.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DD99A-2E53-416A-8F7E-3F93F98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477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8D75"/>
          </a:solidFill>
          <a:ln xmlns:a="http://schemas.openxmlformats.org/drawingml/2006/main" w="0">
            <a:solidFill>
              <a:srgbClr val="FF8D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560BB-0591-4DDB-8951-D1FE369F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EE8"/>
                </a:solidFill>
              </a:defRPr>
            </a:pPr>
            <a:r>
              <a:rPr sz="1200" b="0">
                <a:solidFill>
                  <a:srgbClr val="D9EEE8"/>
                </a:solidFill>
              </a:rPr>
              <a:t>Se qualcosa non torna: segnala pagina, codice commessa e azione che stavi eseguendo.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08C1C-7E81-4A8E-99F9-A3ED65F0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CCC3"/>
                </a:solidFill>
              </a:defRPr>
            </a:pPr>
            <a:r>
              <a:rPr sz="825" b="1">
                <a:solidFill>
                  <a:srgbClr val="A9CCC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1417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2026-08-25T08:02:21.1730000Z</dcterms:created>
  <dcterms:modified xsi:type="dcterms:W3CDTF">2026-08-25T08:02:21.1730000Z</dcterms:modified>
</coreProperties>
</file>